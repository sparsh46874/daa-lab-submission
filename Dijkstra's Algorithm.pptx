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look at Dijkstra's algorithm, the classic method for finding shortest paths in a graph whose edges have non-negative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problem: single-source shortest paths. Point out that A to B direct costs 4 but A-C-B costs 3. This graph is reused in the worked example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Dijkstra conceived the algorithm in 1956 and published it in 1959. The key insight is greedy: the closest unvisited node already has its final distance, because any other route would have to pass through a farther node first, and edges can't be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loop. Steps 2 and 3 repeat once per node. Keeping a prev[] array alongside dist[] lets you rebuild the actual path, not just its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Relaxation is the only place distances change. Each edge is relaxed at most once, when its source node is settled. prev[] records the path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graph as slide 2. Each row is one iteration: we settle the smallest unvisited distance, then relax its edges. Note how B's tentative 4 gets beaten by 3 once C is settled.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Following prev[] backwards from any node gives its path. The highlighted edges form a tree rooted at A. Note E is reached for 10 via D, not 12 via the direct C-E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common practical implementation. The "if d &gt; dist[u]: continue" line replaces the visited set: an entry is stale if a cheaper one for u was already processed.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node is extracted once and each edge relaxed once; the queue decides how expensive those operations are. For most real graphs, which are sparse, the binary heap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greedy argument assumed that extending a path never makes it cheaper. A negative edge breaks that assumption, so a settled node can later turn out to have a cheaper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A* is a direct generalization: it orders the queue by dist plus a heuristic estimate of the remaining distance, which focuses the search toward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points, then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31" y="812732"/>
            <a:ext cx="10566453" cy="502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C1E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31" y="1620369"/>
            <a:ext cx="10566469" cy="4424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31" y="812732"/>
            <a:ext cx="10566453" cy="502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C1E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31" y="1620369"/>
            <a:ext cx="10566469" cy="4424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ll weighted graph with a highlighted shortest pat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7456" y="1650938"/>
            <a:ext cx="4444933" cy="31749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731" y="1907530"/>
            <a:ext cx="10883447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E87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ALGORITHMS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731" y="2410454"/>
            <a:ext cx="6540439" cy="1651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i="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Dijkstra's Algorithm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12731" y="4290073"/>
            <a:ext cx="5886387" cy="685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B9B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the shortest path through a weighted graph, one closest node at a time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31" y="812731"/>
            <a:ext cx="10883447" cy="528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E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shortest-path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731" y="2589661"/>
            <a:ext cx="4709127" cy="1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Given a graph whose edges carry </a:t>
            </a:r>
            <a:r>
              <a:rPr lang="en-US" sz="1800" b="1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non-negative weights</a:t>
            </a:r>
            <a:r>
              <a:rPr lang="en-US" sz="18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(distance, time, cost) and a </a:t>
            </a:r>
            <a:r>
              <a:rPr lang="en-US" sz="1800" b="1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node</a:t>
            </a:r>
            <a:r>
              <a:rPr lang="en-US" sz="18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find the cheapest path from the source to every other node.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731" y="4072696"/>
            <a:ext cx="4709127" cy="825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5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Here: from </a:t>
            </a:r>
            <a:r>
              <a:rPr lang="en-US" sz="1500" b="1" dirty="0">
                <a:solidFill>
                  <a:srgbClr val="C455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r>
              <a:rPr lang="en-US" sz="1500" dirty="0">
                <a:solidFill>
                  <a:srgbClr val="5B5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direct edge to B costs 4, but going A → C → B costs only 3. The shortest path is not always the most direct one.</a:t>
            </a:r>
            <a:endParaRPr lang="en-US" sz="1500" dirty="0"/>
          </a:p>
        </p:txBody>
      </p:sp>
      <p:pic>
        <p:nvPicPr>
          <p:cNvPr id="5" name="Image 0" descr="Weighted graph with nodes A to E; edges A-B 4, A-C 2, C-B 1, B-D 5, C-D 8, C-E 10, D-E 2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92666" y="2016654"/>
            <a:ext cx="5486344" cy="34289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31" y="6238297"/>
            <a:ext cx="2616122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31" y="812732"/>
            <a:ext cx="10883447" cy="528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E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core idea: be greedy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731" y="1671110"/>
            <a:ext cx="9810704" cy="71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finalize the </a:t>
            </a:r>
            <a:r>
              <a:rPr lang="en-US" sz="2000" b="1" dirty="0">
                <a:solidFill>
                  <a:srgbClr val="C455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unvisited node closest to the source</a:t>
            </a:r>
            <a:r>
              <a:rPr lang="en-US" sz="20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With no negative edges, no later detour can ever make it cheaper.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5906" y="2715524"/>
            <a:ext cx="3380390" cy="1627806"/>
          </a:xfrm>
          <a:prstGeom prst="roundRect">
            <a:avLst>
              <a:gd name="adj" fmla="val 6046"/>
            </a:avLst>
          </a:prstGeom>
          <a:solidFill>
            <a:srgbClr val="FFFFFF"/>
          </a:solidFill>
          <a:ln w="6350">
            <a:solidFill>
              <a:srgbClr val="E2DD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279" y="2971898"/>
            <a:ext cx="2953672" cy="292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A6EA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dist[ 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2279" y="3340134"/>
            <a:ext cx="2953672" cy="772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distance found so far to each node. Starts at 0 for the source, ∞ for the rest.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762" y="2715524"/>
            <a:ext cx="3380390" cy="1378866"/>
          </a:xfrm>
          <a:prstGeom prst="roundRect">
            <a:avLst>
              <a:gd name="adj" fmla="val 7138"/>
            </a:avLst>
          </a:prstGeom>
          <a:solidFill>
            <a:srgbClr val="FFFFFF"/>
          </a:solidFill>
          <a:ln w="6350">
            <a:solidFill>
              <a:srgbClr val="E2DD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136" y="2971898"/>
            <a:ext cx="2953672" cy="292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A6EA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visited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2136" y="3340134"/>
            <a:ext cx="2953672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Nodes whose distance is final. Once in, a node is never revisited.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620" y="2715524"/>
            <a:ext cx="3380390" cy="1378866"/>
          </a:xfrm>
          <a:prstGeom prst="roundRect">
            <a:avLst>
              <a:gd name="adj" fmla="val 7138"/>
            </a:avLst>
          </a:prstGeom>
          <a:solidFill>
            <a:srgbClr val="FFFFFF"/>
          </a:solidFill>
          <a:ln w="6350">
            <a:solidFill>
              <a:srgbClr val="E2DD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993" y="2971898"/>
            <a:ext cx="2953672" cy="292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A6EA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priority queue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51993" y="3340134"/>
            <a:ext cx="2953672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 back the unvisited node with the smallest dist[ ] quickly.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731" y="6238297"/>
            <a:ext cx="2616122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31" y="812732"/>
            <a:ext cx="10883447" cy="528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E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algorithm in four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06" y="1674285"/>
            <a:ext cx="5175318" cy="1977523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 w="6350">
            <a:solidFill>
              <a:srgbClr val="E2DD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279" y="1930660"/>
            <a:ext cx="207051" cy="482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874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431647" y="1930660"/>
            <a:ext cx="4432299" cy="299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31647" y="2281072"/>
            <a:ext cx="4432299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dist[source] = 0, every other node = ∞. Put the source in the queue.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691" y="1674285"/>
            <a:ext cx="5175318" cy="1977523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 w="6350">
            <a:solidFill>
              <a:srgbClr val="E2DD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065" y="1930660"/>
            <a:ext cx="250092" cy="482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874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9474" y="1930660"/>
            <a:ext cx="4387967" cy="299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closest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9474" y="2281072"/>
            <a:ext cx="4387967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the unvisited node u with the smallest dist[u]. Mark it visited.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5906" y="3861276"/>
            <a:ext cx="5175318" cy="1977610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 w="6350">
            <a:solidFill>
              <a:srgbClr val="E2DD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2279" y="4117649"/>
            <a:ext cx="265308" cy="482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874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489905" y="4117649"/>
            <a:ext cx="4372294" cy="299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Relax its edges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89905" y="4468062"/>
            <a:ext cx="4372294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each neighbor v, if going through u is cheaper, update dist[v].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00691" y="3861276"/>
            <a:ext cx="5175318" cy="1977610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 w="6350">
            <a:solidFill>
              <a:srgbClr val="E2DD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7065" y="4117649"/>
            <a:ext cx="315913" cy="482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874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925296" y="4117649"/>
            <a:ext cx="4320170" cy="299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25296" y="4468062"/>
            <a:ext cx="4320170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back to step 2 until every reachable node is visited.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731" y="6238297"/>
            <a:ext cx="2616122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1320437"/>
            <a:ext cx="10883447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E87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KEY OPERATION: RELAXATION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15906" y="1928096"/>
            <a:ext cx="10560103" cy="2407495"/>
          </a:xfrm>
          <a:prstGeom prst="roundRect">
            <a:avLst>
              <a:gd name="adj" fmla="val 4088"/>
            </a:avLst>
          </a:prstGeom>
          <a:solidFill>
            <a:srgbClr val="1F2230"/>
          </a:solidFill>
          <a:ln w="6350">
            <a:solidFill>
              <a:srgbClr val="3337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24617" y="2286028"/>
            <a:ext cx="10034961" cy="487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F5F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dist[u] + w(u, v) &lt; dist[v]: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34217" y="2900685"/>
            <a:ext cx="9407073" cy="487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F0A2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dist[v]</a:t>
            </a:r>
            <a:r>
              <a:rPr lang="en-US" sz="2600" dirty="0">
                <a:solidFill>
                  <a:srgbClr val="F5F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dist[u] + w(u, v)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34217" y="3515342"/>
            <a:ext cx="9407073" cy="487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8FB4E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prev[v]</a:t>
            </a:r>
            <a:r>
              <a:rPr lang="en-US" sz="2600" dirty="0">
                <a:solidFill>
                  <a:srgbClr val="F5F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u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12731" y="4694309"/>
            <a:ext cx="9810704" cy="66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C5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"Is the route through u cheaper than the best I know for v?" If yes, take it and remember u as v's predecessor.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731" y="6238298"/>
            <a:ext cx="2616122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D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31" y="812729"/>
            <a:ext cx="10883447" cy="528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E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Worked example: tracing from 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31" y="1620332"/>
            <a:ext cx="6984944" cy="30277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794500" y="1620332"/>
            <a:ext cx="0" cy="3027719"/>
          </a:xfrm>
          <a:prstGeom prst="line">
            <a:avLst/>
          </a:prstGeom>
          <a:noFill/>
          <a:ln w="6350">
            <a:solidFill>
              <a:srgbClr val="E2DD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731" y="4644876"/>
            <a:ext cx="6984944" cy="0"/>
          </a:xfrm>
          <a:prstGeom prst="line">
            <a:avLst/>
          </a:prstGeom>
          <a:noFill/>
          <a:ln w="6350">
            <a:solidFill>
              <a:srgbClr val="E2DDD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860" y="1631462"/>
          <a:ext cx="6968250" cy="3011025"/>
        </p:xfrm>
        <a:graphic>
          <a:graphicData uri="http://schemas.openxmlformats.org/drawingml/2006/table">
            <a:tbl>
              <a:tblPr/>
              <a:tblGrid>
                <a:gridCol w="995464"/>
                <a:gridCol w="995464"/>
                <a:gridCol w="995464"/>
                <a:gridCol w="995464"/>
                <a:gridCol w="995464"/>
                <a:gridCol w="995464"/>
                <a:gridCol w="995464"/>
              </a:tblGrid>
              <a:tr h="430146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Step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Settle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30146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∞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∞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∞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∞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146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C455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C455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∞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∞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146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C455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C455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C455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146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C455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146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C455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146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03996" y="1620332"/>
            <a:ext cx="3270444" cy="55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455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Orange</a:t>
            </a:r>
            <a:r>
              <a:rPr lang="en-US" sz="15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a value that just improved through relaxation.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03996" y="2356805"/>
            <a:ext cx="3270444" cy="55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2: settling C drops B from 4 to </a:t>
            </a:r>
            <a:r>
              <a:rPr lang="en-US" sz="1500" b="1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r>
              <a:rPr lang="en-US" sz="15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(A→C→B).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03996" y="3093281"/>
            <a:ext cx="3270444" cy="825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 3–4: D falls 10 → 8, then E falls 12 → 10, each by routing through the node just settled.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2731" y="6238295"/>
            <a:ext cx="2616122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31" y="812732"/>
            <a:ext cx="10883447" cy="528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E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Result: a shortest-path tree</a:t>
            </a:r>
            <a:endParaRPr lang="en-US" sz="3600" dirty="0"/>
          </a:p>
        </p:txBody>
      </p:sp>
      <p:pic>
        <p:nvPicPr>
          <p:cNvPr id="3" name="Image 0" descr="Graph A to E with shortest-path tree edges A-C, C-B, B-D, D-E highlighted and final distances A 0, B 3, C 2, D 8, E 1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731" y="2016655"/>
            <a:ext cx="5486344" cy="34289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07043" y="2380807"/>
            <a:ext cx="4572142" cy="2700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11376009" y="2380807"/>
            <a:ext cx="0" cy="2700784"/>
          </a:xfrm>
          <a:prstGeom prst="line">
            <a:avLst/>
          </a:prstGeom>
          <a:noFill/>
          <a:ln w="6350">
            <a:solidFill>
              <a:srgbClr val="E2DDD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07043" y="5078415"/>
            <a:ext cx="4572142" cy="0"/>
          </a:xfrm>
          <a:prstGeom prst="line">
            <a:avLst/>
          </a:prstGeom>
          <a:noFill/>
          <a:ln w="6350">
            <a:solidFill>
              <a:srgbClr val="E2DDD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8172" y="2391936"/>
          <a:ext cx="4555447" cy="2684089"/>
        </p:xfrm>
        <a:graphic>
          <a:graphicData uri="http://schemas.openxmlformats.org/drawingml/2006/table">
            <a:tbl>
              <a:tblPr/>
              <a:tblGrid>
                <a:gridCol w="1518482"/>
                <a:gridCol w="1518482"/>
                <a:gridCol w="1518482"/>
              </a:tblGrid>
              <a:tr h="430146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Path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30146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→ C → B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146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→ C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6825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→ C → B → D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6825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→ C → B → D → 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12731" y="6238298"/>
            <a:ext cx="2616122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31" y="812732"/>
            <a:ext cx="10883447" cy="528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E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code: Python with a min-heap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31" y="1620332"/>
            <a:ext cx="6857995" cy="3993136"/>
          </a:xfrm>
          <a:prstGeom prst="roundRect">
            <a:avLst>
              <a:gd name="adj" fmla="val 2544"/>
            </a:avLst>
          </a:prstGeom>
          <a:solidFill>
            <a:srgbClr val="14161F"/>
          </a:solidFill>
          <a:ln/>
        </p:spPr>
      </p:sp>
      <p:sp>
        <p:nvSpPr>
          <p:cNvPr id="4" name="Text 2"/>
          <p:cNvSpPr/>
          <p:nvPr/>
        </p:nvSpPr>
        <p:spPr>
          <a:xfrm>
            <a:off x="1117494" y="1874314"/>
            <a:ext cx="6435923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0A2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</a:t>
            </a: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heapq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7494" y="2123256"/>
            <a:ext cx="6435923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0A2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</a:t>
            </a: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400" dirty="0">
                <a:solidFill>
                  <a:srgbClr val="8FB4E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dijkstra</a:t>
            </a: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(graph, source):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49294" y="2372196"/>
            <a:ext cx="5991169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dist = {node: float('inf') </a:t>
            </a:r>
            <a:r>
              <a:rPr lang="en-US" sz="1400" dirty="0">
                <a:solidFill>
                  <a:srgbClr val="F0A2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node </a:t>
            </a:r>
            <a:r>
              <a:rPr lang="en-US" sz="1400" dirty="0">
                <a:solidFill>
                  <a:srgbClr val="F0A2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graph}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49294" y="2621136"/>
            <a:ext cx="5991169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dist[source] = 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49294" y="2870076"/>
            <a:ext cx="5991169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pq = [(0, source)]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49294" y="3119019"/>
            <a:ext cx="5991169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0A2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pq: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81094" y="3367959"/>
            <a:ext cx="5546415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d, u = heapq.heappop(pq)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81094" y="3616899"/>
            <a:ext cx="5546415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0A2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 &gt; dist[u]: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12894" y="3865838"/>
            <a:ext cx="5101661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0A2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continue</a:t>
            </a: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400" dirty="0">
                <a:solidFill>
                  <a:srgbClr val="8A8D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stale entry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81094" y="4114781"/>
            <a:ext cx="5546415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0A2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v, w </a:t>
            </a:r>
            <a:r>
              <a:rPr lang="en-US" sz="1400" dirty="0">
                <a:solidFill>
                  <a:srgbClr val="F0A2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graph[u]: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12894" y="4363721"/>
            <a:ext cx="5101661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0A2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 + w &lt; dist[v]: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7494" y="4612661"/>
            <a:ext cx="6435923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dist[v] = d + 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7494" y="4861601"/>
            <a:ext cx="6435923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heapq.heappush(pq, (dist[v], v))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49294" y="5110541"/>
            <a:ext cx="5991169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0A2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400" dirty="0">
                <a:solidFill>
                  <a:srgbClr val="E8E4D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dist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77048" y="1620332"/>
            <a:ext cx="3401201" cy="55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</a:t>
            </a:r>
            <a:r>
              <a:rPr lang="en-US" sz="15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maps each node to a list of (neighbor, weight) pairs.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77048" y="2356805"/>
            <a:ext cx="3401201" cy="1092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updating keys in the heap, we push a new entry and skip outdated ones when popped ("lazy deletion").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77048" y="3626638"/>
            <a:ext cx="3401201" cy="55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</a:t>
            </a:r>
            <a:r>
              <a:rPr lang="en-US" sz="1500" b="1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</a:t>
            </a:r>
            <a:r>
              <a:rPr lang="en-US" sz="15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dict in the inner if to recover paths.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731" y="6238298"/>
            <a:ext cx="2616122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31" y="812732"/>
            <a:ext cx="10883447" cy="528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E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Running time depends on the queue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31" y="1671110"/>
            <a:ext cx="10566367" cy="23973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375922" y="1671110"/>
            <a:ext cx="0" cy="2397325"/>
          </a:xfrm>
          <a:prstGeom prst="line">
            <a:avLst/>
          </a:prstGeom>
          <a:noFill/>
          <a:ln w="6350">
            <a:solidFill>
              <a:srgbClr val="E2DD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731" y="4065260"/>
            <a:ext cx="10566367" cy="0"/>
          </a:xfrm>
          <a:prstGeom prst="line">
            <a:avLst/>
          </a:prstGeom>
          <a:noFill/>
          <a:ln w="6350">
            <a:solidFill>
              <a:srgbClr val="E2DDD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860" y="1682240"/>
          <a:ext cx="10549672" cy="2380630"/>
        </p:xfrm>
        <a:graphic>
          <a:graphicData uri="http://schemas.openxmlformats.org/drawingml/2006/table">
            <a:tbl>
              <a:tblPr/>
              <a:tblGrid>
                <a:gridCol w="3516557"/>
                <a:gridCol w="3516557"/>
                <a:gridCol w="3516557"/>
              </a:tblGrid>
              <a:tr h="524053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Priority queue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14300" marB="1143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Best for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14300" marB="1143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524053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Plain array (linear scan)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6EA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O(V²)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D4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Dense graphs, E close to V²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4053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Binary heap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6EA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O((V + E) log V)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D4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Sparse graphs; the usual choice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47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E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Fibonacci heap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6EA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O(E + V log V)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D4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Theoretical best; rarely faster in practice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731" y="4423978"/>
            <a:ext cx="10883447" cy="309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 = number of nodes, E = number of edges. Extra space: </a:t>
            </a:r>
            <a:r>
              <a:rPr lang="en-US" sz="1600" b="1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O(V)</a:t>
            </a:r>
            <a:r>
              <a:rPr lang="en-US" sz="16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dist[ ] and prev[ ], plus the queue.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731" y="6238298"/>
            <a:ext cx="2616122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31" y="812726"/>
            <a:ext cx="10883447" cy="528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E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limit: negative edge weights</a:t>
            </a:r>
            <a:endParaRPr lang="en-US" sz="3600" dirty="0"/>
          </a:p>
        </p:txBody>
      </p:sp>
      <p:pic>
        <p:nvPicPr>
          <p:cNvPr id="3" name="Image 0" descr="Directed graph: A to B weight 2, A to C weight 5, C to B weight minus 4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812731" y="2124646"/>
            <a:ext cx="4470322" cy="32130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91021" y="2535833"/>
            <a:ext cx="5755809" cy="292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Dijkstra settles </a:t>
            </a:r>
            <a:r>
              <a:rPr lang="en-US" sz="1500" b="1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at 2</a:t>
            </a:r>
            <a:r>
              <a:rPr lang="en-US" sz="15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because it is the closest node.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91021" y="2980240"/>
            <a:ext cx="5755809" cy="55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A → C → B costs 5 − 4 = </a:t>
            </a:r>
            <a:r>
              <a:rPr lang="en-US" sz="1500" b="1" dirty="0">
                <a:solidFill>
                  <a:srgbClr val="C455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r>
              <a:rPr lang="en-US" sz="1500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B was finalized too early, and the answer is wrong.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794196" y="3694503"/>
            <a:ext cx="5581814" cy="1228875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 w="6350">
            <a:solidFill>
              <a:srgbClr val="E2DD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50569" y="3900010"/>
            <a:ext cx="5221139" cy="269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Bellman–Ford instead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50569" y="4219990"/>
            <a:ext cx="5221139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negative weights and detects negative cycles, in O(V·E) time.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731" y="6238292"/>
            <a:ext cx="2616122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31" y="812732"/>
            <a:ext cx="10883447" cy="528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E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it shows 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06" y="1674285"/>
            <a:ext cx="5175318" cy="1853096"/>
          </a:xfrm>
          <a:prstGeom prst="roundRect">
            <a:avLst>
              <a:gd name="adj" fmla="val 5311"/>
            </a:avLst>
          </a:prstGeom>
          <a:solidFill>
            <a:srgbClr val="FFFFFF"/>
          </a:solidFill>
          <a:ln w="6350">
            <a:solidFill>
              <a:srgbClr val="E2DD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279" y="1930660"/>
            <a:ext cx="595287" cy="594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[icon: map]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94494" y="1930660"/>
            <a:ext cx="4058567" cy="299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 and navigation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94494" y="2281070"/>
            <a:ext cx="4058567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 networks with travel times as weights; often sped up with A* or precomputation.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691" y="1674285"/>
            <a:ext cx="5175318" cy="1853096"/>
          </a:xfrm>
          <a:prstGeom prst="roundRect">
            <a:avLst>
              <a:gd name="adj" fmla="val 5311"/>
            </a:avLst>
          </a:prstGeom>
          <a:solidFill>
            <a:srgbClr val="FFFFFF"/>
          </a:solidFill>
          <a:ln w="6350">
            <a:solidFill>
              <a:srgbClr val="E2DDD1"/>
            </a:solidFill>
            <a:prstDash val="solid"/>
          </a:ln>
        </p:spPr>
      </p:sp>
      <p:pic>
        <p:nvPicPr>
          <p:cNvPr id="8" name="Image 0" descr="Globe">    </p:cNvPr>
          <p:cNvPicPr>
            <a:picLocks noChangeAspect="1"/>
          </p:cNvPicPr>
          <p:nvPr/>
        </p:nvPicPr>
        <p:blipFill>
          <a:blip r:embed="rId1"/>
          <a:srcRect l="0" r="0" t="-485" b="-485"/>
          <a:stretch/>
        </p:blipFill>
        <p:spPr>
          <a:xfrm>
            <a:off x="6457065" y="1930660"/>
            <a:ext cx="238941" cy="3555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73734" y="1930660"/>
            <a:ext cx="4373279" cy="299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routing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73734" y="2281070"/>
            <a:ext cx="4373279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Link-state protocols such as OSPF compute routes from each router with it.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5906" y="3736851"/>
            <a:ext cx="5175318" cy="2102037"/>
          </a:xfrm>
          <a:prstGeom prst="roundRect">
            <a:avLst>
              <a:gd name="adj" fmla="val 4682"/>
            </a:avLst>
          </a:prstGeom>
          <a:solidFill>
            <a:srgbClr val="FFFFFF"/>
          </a:solidFill>
          <a:ln w="6350">
            <a:solidFill>
              <a:srgbClr val="E2DDD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2279" y="3993220"/>
            <a:ext cx="852923" cy="87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[icon: gamepad]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52129" y="3993220"/>
            <a:ext cx="3793202" cy="299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Games and robotics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052129" y="4343636"/>
            <a:ext cx="3793202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Pathfinding on grids and terrain; A* is Dijkstra plus a distance-to-goal estimate.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00691" y="3736851"/>
            <a:ext cx="5175318" cy="2102037"/>
          </a:xfrm>
          <a:prstGeom prst="roundRect">
            <a:avLst>
              <a:gd name="adj" fmla="val 4682"/>
            </a:avLst>
          </a:prstGeom>
          <a:solidFill>
            <a:srgbClr val="FFFFFF"/>
          </a:solidFill>
          <a:ln w="6350">
            <a:solidFill>
              <a:srgbClr val="E2DDD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57065" y="3993220"/>
            <a:ext cx="621459" cy="594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[icon: share]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205452" y="3993220"/>
            <a:ext cx="4031609" cy="299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1E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"cheapest sequence"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205452" y="4343636"/>
            <a:ext cx="4031609" cy="772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Flight connections, currency or task scheduling: whenever steps have non-negative costs.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2731" y="6238298"/>
            <a:ext cx="2616122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31" y="1586681"/>
            <a:ext cx="10883447" cy="58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2731" y="2504145"/>
            <a:ext cx="10566453" cy="0"/>
          </a:xfrm>
          <a:prstGeom prst="line">
            <a:avLst/>
          </a:prstGeom>
          <a:noFill/>
          <a:ln w="6350">
            <a:solidFill>
              <a:srgbClr val="3337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731" y="2728782"/>
            <a:ext cx="558767" cy="309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74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74682" y="2684264"/>
            <a:ext cx="7035619" cy="35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5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Greedy: always settle the closest unvisited node.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2731" y="3195321"/>
            <a:ext cx="10566453" cy="0"/>
          </a:xfrm>
          <a:prstGeom prst="line">
            <a:avLst/>
          </a:prstGeom>
          <a:noFill/>
          <a:ln w="6350">
            <a:solidFill>
              <a:srgbClr val="3337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731" y="3419959"/>
            <a:ext cx="558767" cy="309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74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74682" y="3375434"/>
            <a:ext cx="8084352" cy="35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5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Relaxation updates distances; prev[ ] rebuilds the paths.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12731" y="3886491"/>
            <a:ext cx="10566453" cy="0"/>
          </a:xfrm>
          <a:prstGeom prst="line">
            <a:avLst/>
          </a:prstGeom>
          <a:noFill/>
          <a:ln w="6350">
            <a:solidFill>
              <a:srgbClr val="3337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731" y="4111129"/>
            <a:ext cx="558767" cy="309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74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74682" y="4066611"/>
            <a:ext cx="5234274" cy="35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5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a binary heap: O((V + E) log V).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2731" y="4577668"/>
            <a:ext cx="10566453" cy="0"/>
          </a:xfrm>
          <a:prstGeom prst="line">
            <a:avLst/>
          </a:prstGeom>
          <a:noFill/>
          <a:ln w="6350">
            <a:solidFill>
              <a:srgbClr val="3337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731" y="5268056"/>
            <a:ext cx="10566453" cy="0"/>
          </a:xfrm>
          <a:prstGeom prst="line">
            <a:avLst/>
          </a:prstGeom>
          <a:noFill/>
          <a:ln w="6350">
            <a:solidFill>
              <a:srgbClr val="3337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731" y="4802305"/>
            <a:ext cx="558767" cy="309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74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74682" y="4757781"/>
            <a:ext cx="8183371" cy="35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5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Non-negative weights only; otherwise use Bellman–Ford.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jkstra's Algorithm">
  <a:themeElements>
    <a:clrScheme name="Dijkstra's Algorithm">
      <a:dk1>
        <a:srgbClr val="1C1E26"/>
      </a:dk1>
      <a:lt1>
        <a:srgbClr val="F5F2EA"/>
      </a:lt1>
      <a:dk2>
        <a:srgbClr val="525357"/>
      </a:dk2>
      <a:lt2>
        <a:srgbClr val="DFDDD6"/>
      </a:lt2>
      <a:accent1>
        <a:srgbClr val="E8743B"/>
      </a:accent1>
      <a:accent2>
        <a:srgbClr val="3A6EA5"/>
      </a:accent2>
      <a:accent3>
        <a:srgbClr val="3D404A"/>
      </a:accent3>
      <a:accent4>
        <a:srgbClr val="5B5F6B"/>
      </a:accent4>
      <a:accent5>
        <a:srgbClr val="B9B6AE"/>
      </a:accent5>
      <a:accent6>
        <a:srgbClr val="C9C5BC"/>
      </a:accent6>
      <a:hlink>
        <a:srgbClr val="0563C1"/>
      </a:hlink>
      <a:folHlink>
        <a:srgbClr val="954F72"/>
      </a:folHlink>
    </a:clrScheme>
    <a:fontScheme name="Dijkstra's Algorithm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Algorithm</dc:title>
  <dc:subject/>
  <dc:creator/>
  <cp:lastModifiedBy/>
  <cp:revision>1</cp:revision>
  <dcterms:created xsi:type="dcterms:W3CDTF">2026-10-10T06:03:11Z</dcterms:created>
  <dcterms:modified xsi:type="dcterms:W3CDTF">2026-10-10T06:03:11Z</dcterms:modified>
</cp:coreProperties>
</file>